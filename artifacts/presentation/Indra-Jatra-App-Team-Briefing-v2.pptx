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f5b018b8f9498a" /><Relationship Type="http://schemas.openxmlformats.org/officeDocument/2006/relationships/extended-properties" Target="/docProps/app.xml" Id="R077507f7ef2d46bd" /><Relationship Type="http://schemas.openxmlformats.org/officeDocument/2006/relationships/officeDocument" Target="/ppt/presentation.xml" Id="R06ce6390ff9f4d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65d00aee784cb3"/>
  </p:sldMasterIdLst>
  <p:notesMasterIdLst>
    <p:notesMasterId xmlns:r="http://schemas.openxmlformats.org/officeDocument/2006/relationships" r:id="R979cf37f78b04c93"/>
  </p:notesMasterIdLst>
  <p:sldIdLst>
    <p:sldId xmlns:r="http://schemas.openxmlformats.org/officeDocument/2006/relationships" id="256" r:id="R4c623ef533e74311"/>
    <p:sldId xmlns:r="http://schemas.openxmlformats.org/officeDocument/2006/relationships" id="257" r:id="R55a20561f13c4b52"/>
    <p:sldId xmlns:r="http://schemas.openxmlformats.org/officeDocument/2006/relationships" id="258" r:id="R8fe736b35d834918"/>
    <p:sldId xmlns:r="http://schemas.openxmlformats.org/officeDocument/2006/relationships" id="259" r:id="R5882cd2c7d684365"/>
    <p:sldId xmlns:r="http://schemas.openxmlformats.org/officeDocument/2006/relationships" id="260" r:id="R6fcff04e6e274cbb"/>
    <p:sldId xmlns:r="http://schemas.openxmlformats.org/officeDocument/2006/relationships" id="261" r:id="R75fcc7bffed84e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59e20aa30c4c2b" /><Relationship Type="http://schemas.openxmlformats.org/officeDocument/2006/relationships/slideMaster" Target="/ppt/slideMasters/slideMaster1.xml" Id="R1a65d00aee784cb3" /><Relationship Type="http://schemas.openxmlformats.org/officeDocument/2006/relationships/notesMaster" Target="/ppt/notesMasters/notesMaster1.xml" Id="R979cf37f78b04c93" /><Relationship Type="http://schemas.openxmlformats.org/officeDocument/2006/relationships/presProps" Target="/ppt/presProps.xml" Id="R368f5f4f326b4672" /><Relationship Type="http://schemas.openxmlformats.org/officeDocument/2006/relationships/tableStyles" Target="/ppt/tableStyles.xml" Id="R9797286f12394371" /><Relationship Type="http://schemas.openxmlformats.org/officeDocument/2006/relationships/slide" Target="/ppt/slides/slide1.xml" Id="R4c623ef533e74311" /><Relationship Type="http://schemas.openxmlformats.org/officeDocument/2006/relationships/slide" Target="/ppt/slides/slide2.xml" Id="R55a20561f13c4b52" /><Relationship Type="http://schemas.openxmlformats.org/officeDocument/2006/relationships/slide" Target="/ppt/slides/slide3.xml" Id="R8fe736b35d834918" /><Relationship Type="http://schemas.openxmlformats.org/officeDocument/2006/relationships/slide" Target="/ppt/slides/slide4.xml" Id="R5882cd2c7d684365" /><Relationship Type="http://schemas.openxmlformats.org/officeDocument/2006/relationships/slide" Target="/ppt/slides/slide5.xml" Id="R6fcff04e6e274cbb" /><Relationship Type="http://schemas.openxmlformats.org/officeDocument/2006/relationships/slide" Target="/ppt/slides/slide6.xml" Id="R75fcc7bffed84e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f99970b3de42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a79473ac114781" /><Relationship Type="http://schemas.openxmlformats.org/officeDocument/2006/relationships/notesMaster" Target="/ppt/notesMasters/notesMaster1.xml" Id="Rc757bf1ea5904e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731c5352854a6d" /><Relationship Type="http://schemas.openxmlformats.org/officeDocument/2006/relationships/notesMaster" Target="/ppt/notesMasters/notesMaster1.xml" Id="R781c4804fcc14e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75d3403d104709" /><Relationship Type="http://schemas.openxmlformats.org/officeDocument/2006/relationships/notesMaster" Target="/ppt/notesMasters/notesMaster1.xml" Id="R9e8e6b61f9614f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5a91fe40d6474e" /><Relationship Type="http://schemas.openxmlformats.org/officeDocument/2006/relationships/notesMaster" Target="/ppt/notesMasters/notesMaster1.xml" Id="Ra9971d63e38c43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d9dac1e78d4807" /><Relationship Type="http://schemas.openxmlformats.org/officeDocument/2006/relationships/notesMaster" Target="/ppt/notesMasters/notesMaster1.xml" Id="Re14911f8e0774f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195ff6c8c546b0" /><Relationship Type="http://schemas.openxmlformats.org/officeDocument/2006/relationships/notesMaster" Target="/ppt/notesMasters/notesMaster1.xml" Id="R54dc76dd105742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visitor problem: one trusted place for what is happening, where to go and what the cultural elements mean. Image: NGV project festival photograph.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build is designed for rehearsal with seeded content. Visitor routes render, assets load and the PWA builds successfully. Cultural copy still needs committee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this as a story, not a menu tour. Start on Home, open the programme, locate First Aid, scan a trail code, then show the saved passport.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map shown is the supplied planned 2026 site map. Be explicit that current live overrides only sync within the same browser profile; the shared API is a release blocker.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Recommended sponsorship destination: https://newaguthi.org.au/sponsors/#sponsorship-form. The WordPress implementation already supports packages, business details, consent, spam protection, private enquiry storage and email notification.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go/no-go statement. The app can be shared internally today, but publishing with an unauthenticated organiser console and missing production API would expose operational controls and break core flows.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4980fedcce44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02198b0bf84e2f" /><Relationship Type="http://schemas.openxmlformats.org/officeDocument/2006/relationships/slideLayout" Target="/ppt/slideLayouts/slideLayout1.xml" Id="R4816cdbace1741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16cdbace1741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6fd8bac564840" /><Relationship Type="http://schemas.openxmlformats.org/officeDocument/2006/relationships/image" Target="/ppt/media/image.jpeg" Id="R5362450c5ed146b3" /><Relationship Type="http://schemas.openxmlformats.org/officeDocument/2006/relationships/notesSlide" Target="/ppt/notesSlides/notesSlide1.xml" Id="Re067c3aace674d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c959cf9de4258" /><Relationship Type="http://schemas.openxmlformats.org/officeDocument/2006/relationships/image" Target="/ppt/media/image2.jpeg" Id="Rcf4505138bd14fa1" /><Relationship Type="http://schemas.openxmlformats.org/officeDocument/2006/relationships/notesSlide" Target="/ppt/notesSlides/notesSlide2.xml" Id="R00994190063d43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f28b950764051" /><Relationship Type="http://schemas.openxmlformats.org/officeDocument/2006/relationships/image" Target="/ppt/media/image3.jpeg" Id="R0a661d9786394f59" /><Relationship Type="http://schemas.openxmlformats.org/officeDocument/2006/relationships/notesSlide" Target="/ppt/notesSlides/notesSlide3.xml" Id="R6e1aa6452ac740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f73b4029941fd" /><Relationship Type="http://schemas.openxmlformats.org/officeDocument/2006/relationships/image" Target="/ppt/media/image4.jpeg" Id="R39798b895e7c4e1a" /><Relationship Type="http://schemas.openxmlformats.org/officeDocument/2006/relationships/notesSlide" Target="/ppt/notesSlides/notesSlide4.xml" Id="Rc26d5b3155b147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86ff2c20148e0" /><Relationship Type="http://schemas.openxmlformats.org/officeDocument/2006/relationships/image" Target="/ppt/media/image.png" Id="R2b251e53fa19477f" /><Relationship Type="http://schemas.openxmlformats.org/officeDocument/2006/relationships/notesSlide" Target="/ppt/notesSlides/notesSlide5.xml" Id="R4b23f75bb81749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7f443b8c042d5" /><Relationship Type="http://schemas.openxmlformats.org/officeDocument/2006/relationships/notesSlide" Target="/ppt/notesSlides/notesSlide6.xml" Id="R3a00ccb8cedf45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0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2450c5ed146b3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BEBF2-3666-4048-8604-E58F7D4C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6DF3C-A583-4725-8826-EE145C04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20955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4B9EA-FB44-4607-84CC-81CC7F4A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F1D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621EF-3A14-4393-95F5-E5F14634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TEAM BRIEFING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D8105-917D-4964-9C52-64DE9223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Indra Jatra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Melbourne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CF8B6-FF37-4D4F-8DD4-7598061E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Visitor guide, cultural trail and event-day 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D9112-3D0F-4BDF-9C18-6FFBA1E4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79C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79C13"/>
                </a:solidFill>
                <a:latin typeface="Helvetica Neue"/>
                <a:ea typeface="Helvetica Neue"/>
                <a:cs typeface="Helvetica Neue"/>
              </a:rPr>
              <a:t>Newa Guthi Victoria</a:t>
            </a:r>
          </a:p>
        </p:txBody>
      </p:sp>
    </p:spTree>
    <p:extLst>
      <p:ext uri="{BB962C8B-B14F-4D97-AF65-F5344CB8AC3E}">
        <p14:creationId xmlns:p14="http://schemas.microsoft.com/office/powerpoint/2010/main" val="3132620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AB2A5E-669F-402B-ACEB-D7602AEB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C2E11-2534-4BD5-A10E-FD46999B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One pocket guide for the whole festival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B16CB-6911-415C-A37A-15489957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35296-1D1F-4F3C-A43A-045088F5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143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51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5DE3D-7734-4BEF-A235-D1AFE569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14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Live programme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2756F-E804-488F-A74A-C40B41CD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478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Now, next and full schedule with useful filters.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BCFFB-5A9D-4AEA-994D-7B3AB691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143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9C1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8EFFD-1569-4728-B699-AE59F543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Venue wayfinding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210E4-B102-4660-9F3F-D2282911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765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A planned site map plus facilities and landmarks.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54C63-EC53-420A-A9E9-1D149EC5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143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51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DB91C-AED7-486F-8A88-308FEDA0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Cultural trail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D9EF9-C879-4D3C-B847-D5BD71F5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052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Twelve stories, QR entry points and a festival passport.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9B39C-52ED-4F57-9B13-09DAC351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143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9C1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44472-DFC7-4486-AF57-A2B95CD7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Personal festival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5B7CE4-FA4E-4D08-9E13-30470832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339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Saved sessions, collected stamps and offline access.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505138bd14fa1"/>
          <a:srcRect xmlns:a="http://schemas.openxmlformats.org/drawingml/2006/main" l="0" t="10106" r="0" b="101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524000"/>
            <a:ext cx="4476750" cy="476250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1CBCB0-8BC7-4F3C-9FA0-789060AA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73405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0E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00392-F737-4E7E-B00C-3827EAFD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7912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70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705F"/>
                </a:solidFill>
                <a:latin typeface="Helvetica Neue"/>
                <a:ea typeface="Helvetica Neue"/>
                <a:cs typeface="Helvetica Neue"/>
              </a:rPr>
              <a:t>SEED / DEMO MODE</a:t>
            </a:r>
          </a:p>
        </p:txBody>
      </p:sp>
    </p:spTree>
    <p:extLst>
      <p:ext uri="{BB962C8B-B14F-4D97-AF65-F5344CB8AC3E}">
        <p14:creationId xmlns:p14="http://schemas.microsoft.com/office/powerpoint/2010/main" val="2273640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35EC79-84DD-4BE8-996A-3088D179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rPr>
              <a:t>HOW VISITORS USE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1B5FC-0F27-477D-BE30-F01F6D80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A simple journey from arrival to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AFC6C-40FC-4FEA-8A43-A5540B38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1C867-770F-40E4-A8E1-235427D2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51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76A2C-D7B1-4A5F-9D60-33172675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420F3-6277-453C-8C05-142C6282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4782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Open and orient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1FB75-9876-48F9-A074-9CF223F7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431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See what is on now and what starts next.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C2643-0995-44B1-B9F6-F4DAD88B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9C1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193AA2-6AC4-403C-BF27-7A7C9059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D30E4-556E-4FC2-88E8-B9DCF168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6222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Find the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F1E5F-5A2A-4295-A704-3D9E3AC6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Use the map, facilities and directory.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DFA8B-E58E-4273-BA12-506076D5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05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172CD-DA77-40A5-9456-705627D9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585ED-61E8-4FDD-906F-FA031113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7662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Explore the 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8D0D25-B940-4667-8FA6-0BA82290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719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Scan signs or browse the cultural trail.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4672C-EA03-411F-A631-FBC336C9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141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DFA786-A200-476B-8DB9-369685B0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AE2EFE-4817-42E2-ADDC-21D1021A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9102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Keep the day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3E414-068A-4F88-8E5F-812E53F1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Save sessions and build a digital passport.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61d9786394f59"/>
          <a:srcRect xmlns:a="http://schemas.openxmlformats.org/drawingml/2006/main" l="0" t="7267" r="0" b="72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0875" y="1524000"/>
            <a:ext cx="4095750" cy="46672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164957-32EC-45E3-9EF9-2EEA9EDB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219700"/>
            <a:ext cx="3524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1018B2-597B-4135-8434-D7A2F42A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3530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Designed for one-handed use</a:t>
            </a:r>
          </a:p>
          <a:p xmlns:a="http://schemas.openxmlformats.org/drawingml/2006/main">
            <a:pPr>
              <a:defRPr sz="142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on a busy festival day</a:t>
            </a:r>
          </a:p>
        </p:txBody>
      </p:sp>
    </p:spTree>
    <p:extLst>
      <p:ext uri="{BB962C8B-B14F-4D97-AF65-F5344CB8AC3E}">
        <p14:creationId xmlns:p14="http://schemas.microsoft.com/office/powerpoint/2010/main" val="44385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C20926-2CDC-4E3C-9E67-C6031D52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rPr>
              <a:t>EVENT 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E329D-FAAE-415D-AE33-33641FF2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Clear ownership keeps information trustworthy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A363F-CF48-4B41-8784-42B5793B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98b895e7c4e1a"/>
          <a:stretch xmlns:a="http://schemas.openxmlformats.org/drawingml/2006/main"/>
        </p:blipFill>
        <p:spPr>
          <a:xfrm xmlns:a="http://schemas.openxmlformats.org/drawingml/2006/main">
            <a:off x="1326102" y="1524000"/>
            <a:ext cx="3634296" cy="4762500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600E0-46AC-43C2-86C6-D3E5612B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95450"/>
            <a:ext cx="533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6E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8789C-F55E-4658-86AD-2D479E0C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621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5DBF5-8E06-4ED8-BF87-A8B263B4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95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Content 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65505-CB72-4A6F-9C9E-4149C6C1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574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Approves programme, locations, cultural copy and alerts.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0B135-504B-4DBD-9ABB-8364EA1A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14650"/>
            <a:ext cx="533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F1D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23FD7-5B1A-430D-8184-6910170F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813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77A002-044C-47F0-A0C4-05224150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146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Organiser operator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E35D08-8C85-4AF3-B14E-2F1994A1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766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Updates event status and tests the visitor 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479E2-58CD-4A94-8575-FBAD751C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33850"/>
            <a:ext cx="533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0E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E9C139-F2B4-4F73-8178-89368528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2005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70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705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B45EB0-4E2C-4EF3-BACB-95B6059B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Support lead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83DC1-D41A-4F33-B83B-98411543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958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Monitors QR, install, access and help-desk issues.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6F15A8-8CBD-46A7-8B40-1363147E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429250"/>
            <a:ext cx="4953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BE6E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D64BA-64BF-48E3-A0BA-6ECD2D60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91175"/>
            <a:ext cx="451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314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31410"/>
                </a:solidFill>
                <a:latin typeface="Helvetica Neue"/>
                <a:ea typeface="Helvetica Neue"/>
                <a:cs typeface="Helvetica Neue"/>
              </a:rPr>
              <a:t>Before launch: organiser access must be secured, and updates must use a shared server API rather than browser-only storage.</a:t>
            </a:r>
          </a:p>
        </p:txBody>
      </p:sp>
    </p:spTree>
    <p:extLst>
      <p:ext uri="{BB962C8B-B14F-4D97-AF65-F5344CB8AC3E}">
        <p14:creationId xmlns:p14="http://schemas.microsoft.com/office/powerpoint/2010/main" val="5247913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3B9E0-EDB3-4823-B383-065BC71A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rPr>
              <a:t>COMMUNITY CONVERSION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5F4E7-BE7D-4F4A-85D4-AA5A537E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Use one trusted form for each intent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DAB36-A5D3-4E37-AFAD-4A2A6AEC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51e53fa19477f"/>
          <a:stretch xmlns:a="http://schemas.openxmlformats.org/drawingml/2006/main"/>
        </p:blipFill>
        <p:spPr>
          <a:xfrm xmlns:a="http://schemas.openxmlformats.org/drawingml/2006/main">
            <a:off x="1486565" y="1828800"/>
            <a:ext cx="1541721" cy="1714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11DC2-91B4-4416-9F19-ECFD6CC7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The app should route people to maintained website forms, not duplicate sensitive data handling in demo code.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3C807-0C7B-4613-B457-62EECA87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57350"/>
            <a:ext cx="561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BE6E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28817-A1FC-4138-8255-A852AE01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47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314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731410"/>
                </a:solidFill>
                <a:latin typeface="Helvetica Neue"/>
                <a:ea typeface="Helvetica Neue"/>
                <a:cs typeface="Helvetica Neue"/>
              </a:rPr>
              <a:t>Sponsorship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E0E5A-52D0-4341-8CCA-203ED639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098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Reuse the website sponsorship form and package choices.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7C7A9-7BBE-44F3-B967-4B264F07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009900"/>
            <a:ext cx="561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DF1D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2C5A7-F6A6-41D1-B792-DA7B5ACD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00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Stall EOI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003CC-70F9-490F-9F5D-42DE9236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623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Create a dedicated website form with stall type and requirements.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540F14-0482-4AEC-9F5D-0602B5CC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362450"/>
            <a:ext cx="561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CF0E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2684F-FE25-49A0-9774-5840C1B5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52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70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705F"/>
                </a:solidFill>
                <a:latin typeface="Helvetica Neue"/>
                <a:ea typeface="Helvetica Neue"/>
                <a:cs typeface="Helvetica Neue"/>
              </a:rPr>
              <a:t>Volunteer / classes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B0D49-7C56-41D5-B5F8-65418542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9149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Use the general contact form until dedicated workflows exist.</a:t>
            </a:r>
          </a:p>
        </p:txBody>
      </p:sp>
    </p:spTree>
    <p:extLst>
      <p:ext uri="{BB962C8B-B14F-4D97-AF65-F5344CB8AC3E}">
        <p14:creationId xmlns:p14="http://schemas.microsoft.com/office/powerpoint/2010/main" val="681537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4A7D8-3490-45E1-9CE0-D06681AE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rPr>
              <a:t>RELEASE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88D4D-477D-4A00-8099-D193DA2B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Ready to demonstrate. Not ready to publish.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40367-C407-41E6-B77F-2BE7D677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546BF-7FED-452D-BFD5-3FF32F30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953000" cy="4019550"/>
          </a:xfrm>
          <a:prstGeom xmlns:a="http://schemas.openxmlformats.org/drawingml/2006/main" prst="roundRect">
            <a:avLst>
              <a:gd name="adj" fmla="val 1896"/>
            </a:avLst>
          </a:prstGeom>
          <a:solidFill xmlns:a="http://schemas.openxmlformats.org/drawingml/2006/main">
            <a:srgbClr val="DCF0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11A57-2CF6-4B18-A10D-76182070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3BF79-800D-48D3-A8E1-0303F1D6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70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705F"/>
                </a:solidFill>
                <a:latin typeface="Helvetica Neue"/>
                <a:ea typeface="Helvetica Neue"/>
                <a:cs typeface="Helvetica Neue"/>
              </a:rPr>
              <a:t>READY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50B7F-141B-470F-B811-4CF3C69B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70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705F"/>
                </a:solidFill>
                <a:latin typeface="Helvetica Neue"/>
                <a:ea typeface="Helvetica Neue"/>
                <a:cs typeface="Helvetica Neue"/>
              </a:rPr>
              <a:t>Internal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9CC21-826C-49F3-8831-14A4336C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40005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• Visitor routes and imagery</a:t>
            </a:r>
          </a:p>
          <a:p xmlns:a="http://schemas.openxmlformats.org/drawingml/2006/main">
            <a:pPr>
              <a:defRPr sz="1425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• Programme, trail, map and directory</a:t>
            </a:r>
          </a:p>
          <a:p xmlns:a="http://schemas.openxmlformats.org/drawingml/2006/main">
            <a:pPr>
              <a:defRPr sz="1425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• Saved sessions and passport</a:t>
            </a:r>
          </a:p>
          <a:p xmlns:a="http://schemas.openxmlformats.org/drawingml/2006/main">
            <a:pPr>
              <a:defRPr sz="1425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• PWA production build</a:t>
            </a:r>
          </a:p>
          <a:p xmlns:a="http://schemas.openxmlformats.org/drawingml/2006/main">
            <a:pPr>
              <a:defRPr sz="1425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• Team rehearsal documentation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550E2-D98B-4444-8439-40A5BE47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5600700" cy="4019550"/>
          </a:xfrm>
          <a:prstGeom xmlns:a="http://schemas.openxmlformats.org/drawingml/2006/main" prst="roundRect">
            <a:avLst>
              <a:gd name="adj" fmla="val 1896"/>
            </a:avLst>
          </a:prstGeom>
          <a:solidFill xmlns:a="http://schemas.openxmlformats.org/drawingml/2006/main">
            <a:srgbClr val="FBE6E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67668-F782-49D1-9DB1-5BB3F427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621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7BEC6E-8F87-440E-A012-64DE680A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314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31410"/>
                </a:solidFill>
                <a:latin typeface="Helvetica Neue"/>
                <a:ea typeface="Helvetica Neue"/>
                <a:cs typeface="Helvetica Neue"/>
              </a:rPr>
              <a:t>BEFORE PUBLIC LAUNCH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713EA-301C-477F-A803-43627F05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314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731410"/>
                </a:solidFill>
                <a:latin typeface="Helvetica Neue"/>
                <a:ea typeface="Helvetica Neue"/>
                <a:cs typeface="Helvetica Neue"/>
              </a:rPr>
              <a:t>Release gates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5912A4-EEDA-47D1-AB9C-EDB31383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81350"/>
            <a:ext cx="4762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1. Secure organiser access and implement the API</a:t>
            </a:r>
          </a:p>
          <a:p xmlns:a="http://schemas.openxmlformats.org/drawingml/2006/main">
            <a:pPr>
              <a:defRPr sz="1350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2. Restore agreed Login / Register onboarding</a:t>
            </a:r>
          </a:p>
          <a:p xmlns:a="http://schemas.openxmlformats.org/drawingml/2006/main">
            <a:pPr>
              <a:defRPr sz="1350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3. Add a real install-to-home-screen flow</a:t>
            </a:r>
          </a:p>
          <a:p xmlns:a="http://schemas.openxmlformats.org/drawingml/2006/main">
            <a:pPr>
              <a:defRPr sz="1350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4. Approve cultural stories and final run sheet</a:t>
            </a:r>
          </a:p>
          <a:p xmlns:a="http://schemas.openxmlformats.org/drawingml/2006/main">
            <a:pPr>
              <a:defRPr sz="1350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5. Rehearse on iPhone and Android over HTTPS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5B5C8-7373-482E-8249-64795E75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rPr>
              <a:t>Next milestone: private stakeholder test</a:t>
            </a:r>
          </a:p>
        </p:txBody>
      </p:sp>
    </p:spTree>
    <p:extLst>
      <p:ext uri="{BB962C8B-B14F-4D97-AF65-F5344CB8AC3E}">
        <p14:creationId xmlns:p14="http://schemas.microsoft.com/office/powerpoint/2010/main" val="668013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2026-09-18T03:58:33.4700000Z</dcterms:created>
  <dcterms:modified xsi:type="dcterms:W3CDTF">2026-09-18T03:58:33.4700000Z</dcterms:modified>
</coreProperties>
</file>